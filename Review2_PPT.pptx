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3.jpg" ContentType="image/jpg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4"/>
    <p:restoredTop sz="94610"/>
  </p:normalViewPr>
  <p:slideViewPr>
    <p:cSldViewPr snapToGrid="0" snapToObjects="1">
      <p:cViewPr varScale="1">
        <p:scale>
          <a:sx n="196" d="100"/>
          <a:sy n="196" d="100"/>
        </p:scale>
        <p:origin x="184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8227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987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314451" y="1300163"/>
            <a:ext cx="6507956" cy="1485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lvl="0">
              <a:buSzPts val="4400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ML-Based Prediction of Ocean Temperature Anomalies for Early Climate Change Detection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4368404" y="3161110"/>
            <a:ext cx="3454003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 fontScale="40000" lnSpcReduction="20000"/>
          </a:bodyPr>
          <a:lstStyle/>
          <a:p>
            <a:pPr marL="0" indent="0">
              <a:spcBef>
                <a:spcPts val="0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ID: B984</a:t>
            </a:r>
          </a:p>
          <a:p>
            <a:pPr marL="0" indent="0">
              <a:spcBef>
                <a:spcPts val="0"/>
              </a:spcBef>
              <a:buSzPct val="100000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1 Reg. No: RA2311003010827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444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1 Name: Sawant Aarya Rajesh</a:t>
            </a:r>
          </a:p>
          <a:p>
            <a:pPr marL="0" indent="0">
              <a:spcBef>
                <a:spcPts val="444"/>
              </a:spcBef>
              <a:buSzPct val="100000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444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2 Reg. No: RA2311003010859</a:t>
            </a:r>
          </a:p>
          <a:p>
            <a:pPr marL="0" indent="0">
              <a:spcBef>
                <a:spcPts val="444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2 Name: Siddharth Ganesh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4451" y="329577"/>
            <a:ext cx="1219200" cy="51367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/>
          <p:nvPr/>
        </p:nvSpPr>
        <p:spPr>
          <a:xfrm>
            <a:off x="2453481" y="258167"/>
            <a:ext cx="4629150" cy="900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SRM INSTITUTE OF SCIENCE AND TECHNOLOGY </a:t>
            </a:r>
            <a:endParaRPr sz="135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/>
            <a:r>
              <a:rPr lang="en-US" sz="135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SCHOOL OF COMPUTING</a:t>
            </a:r>
            <a:endParaRPr sz="135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/>
            <a:r>
              <a:rPr lang="en-US" sz="135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COMPUTING TECHNOLOGIES</a:t>
            </a:r>
            <a:endParaRPr sz="135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/>
            <a:r>
              <a:rPr lang="en-US" sz="135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21CSP302L - MINOR PROJECT</a:t>
            </a:r>
            <a:endParaRPr sz="135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7" name="Google Shape;89;p1"/>
          <p:cNvSpPr txBox="1">
            <a:spLocks/>
          </p:cNvSpPr>
          <p:nvPr/>
        </p:nvSpPr>
        <p:spPr>
          <a:xfrm>
            <a:off x="1309092" y="3243263"/>
            <a:ext cx="2968229" cy="1403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444"/>
              </a:spcBef>
              <a:buSzPct val="100000"/>
            </a:pPr>
            <a:r>
              <a:rPr lang="en-US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 name: Dr. Divya Mohan </a:t>
            </a:r>
          </a:p>
          <a:p>
            <a:pPr marL="0" indent="0">
              <a:lnSpc>
                <a:spcPct val="150000"/>
              </a:lnSpc>
              <a:spcBef>
                <a:spcPts val="444"/>
              </a:spcBef>
              <a:buSzPct val="100000"/>
            </a:pPr>
            <a:r>
              <a:rPr lang="en-US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Designation: Assistant Professor</a:t>
            </a:r>
            <a:br>
              <a:rPr lang="en-US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Department: Computing Technologies</a:t>
            </a:r>
          </a:p>
        </p:txBody>
      </p:sp>
      <p:pic>
        <p:nvPicPr>
          <p:cNvPr id="2" name="Picture 2" descr="icot 2023 Trifold Brochure_14.02.2023">
            <a:extLst>
              <a:ext uri="{FF2B5EF4-FFF2-40B4-BE49-F238E27FC236}">
                <a16:creationId xmlns:a16="http://schemas.microsoft.com/office/drawing/2014/main" id="{A9A5E08A-41BC-E338-5324-D8A58DF61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555" y="280641"/>
            <a:ext cx="1108445" cy="522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Progress Since Review 1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Review 1 (Feb 28): Plan on paper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</a:rPr>
              <a:t>Abstract and problem statement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</a:rPr>
              <a:t>Dataset identified (not processed)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</a:rPr>
              <a:t>Proposed methodology (no code)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</a:rPr>
              <a:t>Literature survey completed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</a:rPr>
              <a:t>Review 2 (Today): Working System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37160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Complete data pipeline (1,190 days)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RGB tensor mapping implemented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CNN (ResNet101) trained: MAE 0.1007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RF on 41 engineered features: MAE 0.1279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Ensemble beating both: MAE 0.0700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8 publication-grade visualizations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IEEE research paper drafted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Models saved to Google Drive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</a:rPr>
              <a:t>Key Achievement: Ensemble MAE 0.0700C — 30.45% better than CNN, 45.24% better than RF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6666"/>
                </a:solidFill>
              </a:rPr>
              <a:t>B984 | Aarya Sawant &amp; Siddharth Ganesh | Dr. Divya Mohan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2/16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Problem Statement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94560"/>
                </a:solidFill>
              </a:rPr>
              <a:t>The Smoothing Bias Problem
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Traditional ML models (LSTMs, Transformers) use loss functions that treat rare extreme thermal events as noise. They predict the average and miss the critical spikes that matter for climate monitoring.
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94560"/>
                </a:solidFill>
              </a:rPr>
              <a:t>Why This Matters
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Only ~10% of ocean data contains extreme anomalies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Models optimize for the 90% normal data, ignoring the 10% that matters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No single model captures both spatial patterns AND statistical outliers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7AE60"/>
                </a:solidFill>
              </a:rPr>
              <a:t>
Our Solution
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Hybrid CNN-RF Ensemble: CNN captures spatial patterns, RF catches statistical spikes. Together they achieve what neither can alone.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6666"/>
                </a:solidFill>
              </a:rPr>
              <a:t>B984 | Aarya Sawant &amp; Siddharth Ganesh | Dr. Divya Mohan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3/16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Dataset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Parameter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Details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Source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Copernicus Marine Service (CMEMS)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Dataset 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Raw SST (thetao) at surface depth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Dataset 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SST Anomaly (pre-computed)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Region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North Indian Ocean: 4.83N-24.58N, 67.08E-89.33E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Time Range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July 18, 2022 - February 2, 2026 (1,296 days)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Grid Resolution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0.083 degrees (~9 km) | 238 x 268 pixels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Total Size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~600 MB (two NetCDF files)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Synchronized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1,190 aligned time steps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Target Variable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Spatial mean SST anomaly per day (scalar)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6666"/>
                </a:solidFill>
              </a:rPr>
              <a:t>B984 | Aarya Sawant &amp; Siddharth Ganesh | Dr. Divya Mohan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4/16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Preprocessing Pipeline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743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Step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Name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Description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Step 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Anomaly Extraction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Copernicus pre-computed SST anomaly (equivalent to STL residual, 1991-2020 baseline)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Step B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Min-Max Normalization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Scale raw SST grids to [0,1] range globally across all time steps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Step C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RGB Tensor Mapping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3-day window: Day T-2=Red, T-1=Green, T=Blue. Output: (238,268,3) tensor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Step 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Feature Engineering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41 statistical features for RF: spatial stats, temporal deltas, gradients, acceleration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Step 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Oversampling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</a:rPr>
                        <a:t>Top 10% extremes duplicated 3x with Gaussian noise (sigma=0.005). Size: 949 to 1,234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6666"/>
                </a:solidFill>
              </a:rPr>
              <a:t>B984 | Aarya Sawant &amp; Siddharth Ganesh | Dr. Divya Mohan</a:t>
            </a:r>
            <a:endParaRPr lang="en-US" sz="800" dirty="0"/>
          </a:p>
        </p:txBody>
      </p:sp>
      <p:sp>
        <p:nvSpPr>
          <p:cNvPr id="4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5/16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RGB Tensor Mapping: Temporal to Spatial Encoding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images/rgb_tenso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859536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</a:rPr>
              <a:t>3 consecutive days encoded as RGB color channels. Temperature changes appear as color gradients that CNN convolutional filters naturally detect as thermal motion patterns.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6666"/>
                </a:solidFill>
              </a:rPr>
              <a:t>B984 | Aarya Sawant &amp; Siddharth Ganesh | Dr. Divya Mohan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6/16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Model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</a:rPr>
              <a:t>CNN Branch: ResNet101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345 layers, last 20 unfrozen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Input: (238, 268, 3) RGB tensors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Head: GAP &gt; Dense(512) &gt; BN &gt; Drop(0.3) &gt; Dense(128) &gt; Drop(0.2) &gt; Dense(1)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Loss: MSE (not Huber)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Optimizer: Adam (lr=0.0001)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44M params, 10M trainable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5488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</a:rPr>
              <a:t>RF Branch: Random Forest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28016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500 trees, unlimited depth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Input: 41 engineered features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Features: spatial stats, deltas, gradients, acceleration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NOT raw pixels (63K failed)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Training: 6 seconds on CPU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3657600"/>
            <a:ext cx="5486400" cy="73152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37033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460"/>
                </a:solidFill>
              </a:rPr>
              <a:t>Ensemble: Final = 0.61 x CNN + 0.39 x RF = MAE 0.0700C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6666"/>
                </a:solidFill>
              </a:rPr>
              <a:t>B984 | Aarya Sawant &amp; Siddharth Ganesh | Dr. Divya Mohan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7/16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Why the Ensemble Works: Complementarity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2860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CNN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Random Forest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Ensemble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Overall MAE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0.1007C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0.1279C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0.0700C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Spike MAE (top 10%)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0.2089C (BAD)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0.0589C (EXCELLENT)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0.1114C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Strength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Spatial patterns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Statistical outliers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Both combined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Weakness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Misses extreme spikes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No spatial awareness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Balanced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0F3460"/>
                </a:solidFill>
              </a:rPr>
              <a:t>CNN sees the ocean as an image — detects fronts, eddies, gradients.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0F3460"/>
                </a:solidFill>
              </a:rPr>
              <a:t>RF sees the ocean as statistics — detects when values are unusually extreme.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0F3460"/>
                </a:solidFill>
              </a:rPr>
              <a:t>The ensemble gets the best of both worlds.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6666"/>
                </a:solidFill>
              </a:rPr>
              <a:t>B984 | Aarya Sawant &amp; Siddharth Ganesh | Dr. Divya Mohan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8/16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Final Results: Complete Leaderboard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138160" cy="25603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MAE (C)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RMSE (C)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Spike MAE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F1-Score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CNN (ResNet101)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0.1007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0.1152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0.2089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58.40%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54.79%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0.1279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0.1623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0.0589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57.56%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54.30%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MLP Baseline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2.5874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Ensemble (61/39)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0.0700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0.0849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0.1114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70.59%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32.69%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b="1" dirty="0">
                <a:solidFill>
                  <a:srgbClr val="27AE60"/>
                </a:solidFill>
              </a:rPr>
              <a:t>Ensemble vs CNN: +30.45% improvement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b="1" dirty="0">
                <a:solidFill>
                  <a:srgbClr val="27AE60"/>
                </a:solidFill>
              </a:rPr>
              <a:t>Ensemble vs RF: +45.24% improvement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b="1" dirty="0">
                <a:solidFill>
                  <a:srgbClr val="E94560"/>
                </a:solidFill>
              </a:rPr>
              <a:t>MLP vs CNN: 37x worse (proves spatial convolutions essential)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6666"/>
                </a:solidFill>
              </a:rPr>
              <a:t>B984 | Aarya Sawant &amp; Siddharth Ganesh | Dr. Divya Mohan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9/16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Prediction vs Ground Truth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images/ensemble_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22960"/>
            <a:ext cx="822960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4-panel: time-series comparison, MAE bars, predicted vs actual scatter, error distribution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6666"/>
                </a:solidFill>
              </a:rPr>
              <a:t>B984 | Aarya Sawant &amp; Siddharth Ganesh | Dr. Divya Mohan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10/16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Confusion Matrices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images/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22960"/>
            <a:ext cx="822960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Anomaly detection classification: CNN (75.2% acc), RF (57.6%), Ensemble (70.6%)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6666"/>
                </a:solidFill>
              </a:rPr>
              <a:t>B984 | Aarya Sawant &amp; Siddharth Ganesh | Dr. Divya Mohan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11/16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Spike Detection Performance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images/spike_det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22960"/>
            <a:ext cx="822960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CNN fails on extremes (0.2089). RF excels (0.0589). Ensemble balances (0.1114).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6666"/>
                </a:solidFill>
              </a:rPr>
              <a:t>B984 | Aarya Sawant &amp; Siddharth Ganesh | Dr. Divya Mohan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12/16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Ensemble Weight Sensitivity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images/weight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22960"/>
            <a:ext cx="822960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Grid search reveals minimum MAE at 61% CNN + 39% RF. Convex curve confirms complementarity.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6666"/>
                </a:solidFill>
              </a:rPr>
              <a:t>B984 | Aarya Sawant &amp; Siddharth Ganesh | Dr. Divya Mohan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13/16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What Worked vs What Didn't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384048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Attempt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Change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Result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Verdict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v1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Basic CNN, single channel x3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MAE ~0.076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No temporal context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v2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Huber loss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Worse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Huber forgives outliers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v3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RF on 63K raw pixels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MAE 0.126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RF drowns in noise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v4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3-day RGB sliding window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Better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Good direction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v5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Augmentation (top 10% x4)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Helped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Kept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v6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MSE loss + augmentation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MAE 0.083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Best individual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v7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50/50 ensemble (bad RF)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MAE 0.119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Worse than CNN alone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v8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41 engineered RF features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RF usable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Breakthrough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v9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Optimized ensemble (61/39)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MAE 0.070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FINAL WINNER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6666"/>
                </a:solidFill>
              </a:rPr>
              <a:t>B984 | Aarya Sawant &amp; Siddharth Ganesh | Dr. Divya Mohan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14/16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Next Steps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94560"/>
                </a:solidFill>
              </a:rPr>
              <a:t>Phase 2 Validation (Notebook Ready)
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Seasonal robustness (monsoon/winter/summer)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El Nino 2023-24 event validation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Ablation study (prove both models needed)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7-day recursive forecast with drift analysis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94560"/>
                </a:solidFill>
              </a:rPr>
              <a:t>
Research Paper
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IEEE format draft complete, incorporating review feedback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Target: World Ocean Science Congress 2026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94560"/>
                </a:solidFill>
              </a:rPr>
              <a:t>
Final Viva
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Live Colab demo with saved models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Complete presentation with all results and validations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6666"/>
                </a:solidFill>
              </a:rPr>
              <a:t>B984 | Aarya Sawant &amp; Siddharth Ganesh | Dr. Divya Mohan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15/16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References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[1] Parasyris et al., Attention U-Net for MHW spatial forecasting, Mediterranean, 2023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[5] Bonino et al., RF/LSTM/CNN comparative benchmark, Mediterranean SST, 2024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[14] Zrira et al., BiLSTM + Attention for Moroccan Sea SST, 2023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[22] Xie et al., 3D U-Net spatiotemporal learning, South China Sea, 2024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[25] Song et al., STL + SAM-LSTM seasonal decomposition, China Seas, 2023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</a:rPr>
              <a:t>[29] Chen et al., ConvTrans-CL global SST forecasting, 2024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333333"/>
                </a:solidFill>
              </a:rPr>
              <a:t>Dataset: Copernicus Marine Service (CMEMS) - GLOBAL_ANALYSISFORECAST_PHY_001_024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</a:rPr>
              <a:t>Thank You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6666"/>
                </a:solidFill>
              </a:rPr>
              <a:t>B984 | Aarya Sawant &amp; Siddharth Ganesh | Dr. Divya Mohan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16/16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1392</Words>
  <Application>Microsoft Macintosh PowerPoint</Application>
  <PresentationFormat>On-screen Show (16:9)</PresentationFormat>
  <Paragraphs>270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Times New Roman</vt:lpstr>
      <vt:lpstr>Office Theme</vt:lpstr>
      <vt:lpstr>ML-Based Prediction of Ocean Temperature Anomalies for Early Climate Change Detection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ML-Based Prediction of Ocean Temperature Anomalies - Review 2</dc:title>
  <dc:subject>PptxGenJS Presentation</dc:subject>
  <dc:creator>Aarya Sawant &amp; Siddharth Ganesh</dc:creator>
  <cp:lastModifiedBy>SIDDHARTH GANESH (RA2311003010859)</cp:lastModifiedBy>
  <cp:revision>2</cp:revision>
  <dcterms:created xsi:type="dcterms:W3CDTF">2026-03-22T13:21:30Z</dcterms:created>
  <dcterms:modified xsi:type="dcterms:W3CDTF">2026-03-27T19:04:39Z</dcterms:modified>
</cp:coreProperties>
</file>